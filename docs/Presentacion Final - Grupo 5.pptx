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275" y="502920"/>
            <a:ext cx="944689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5740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Optimización de la Aprobación de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9FC0E8"/>
                </a:solidFill>
                <a:latin typeface="Calibri"/>
              </a:rPr>
              <a:t>Proyecto Integrador Final · Banco Comercial Nacional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3611880"/>
            <a:ext cx="1828800" cy="41148"/>
          </a:xfrm>
          <a:prstGeom prst="rect">
            <a:avLst/>
          </a:prstGeom>
          <a:solidFill>
            <a:srgbClr val="4E7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Angie Massiel González Rivera  ·  Bryan Misael Helena  ·  Jhonniel García Samboy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IND-101: Introducción a la Ciencia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C0E8"/>
                </a:solidFill>
                <a:latin typeface="Calibri"/>
              </a:rPr>
              <a:t>Universidad del Caribe (UNICARIBE)  ·  Facilitador: Manuel Arturo Naut Fernández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problema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6B"/>
                </a:solidFill>
                <a:latin typeface="Calibri"/>
              </a:rPr>
              <a:t>El banco aprueba créditos, pero no de forma uniforme ni predecible.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2E5A94"/>
                </a:solidFill>
                <a:latin typeface="Calibri"/>
              </a:rPr>
              <a:t>▪  </a:t>
            </a:r>
            <a:r>
              <a:rPr sz="1800" b="1">
                <a:solidFill>
                  <a:srgbClr val="1B3A6B"/>
                </a:solidFill>
                <a:latin typeface="Calibri"/>
              </a:rPr>
              <a:t>El criterio varía según quién evalúa.  </a:t>
            </a:r>
            <a:r>
              <a:rPr sz="1800">
                <a:solidFill>
                  <a:srgbClr val="555B66"/>
                </a:solidFill>
                <a:latin typeface="Calibri"/>
              </a:rPr>
              <a:t>Dos analistas con carteras de riesgo idéntico aprueban de forma muy distinta.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E5A94"/>
                </a:solidFill>
                <a:latin typeface="Calibri"/>
              </a:rPr>
              <a:t>▪  </a:t>
            </a:r>
            <a:r>
              <a:rPr sz="1800" b="1">
                <a:solidFill>
                  <a:srgbClr val="1B3A6B"/>
                </a:solidFill>
                <a:latin typeface="Calibri"/>
              </a:rPr>
              <a:t>El tiempo no depende de la dificultad.  </a:t>
            </a:r>
            <a:r>
              <a:rPr sz="1800">
                <a:solidFill>
                  <a:srgbClr val="555B66"/>
                </a:solidFill>
                <a:latin typeface="Calibri"/>
              </a:rPr>
              <a:t>Un crédito de seis millones no tarda más que uno de treinta mil.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2E5A94"/>
                </a:solidFill>
                <a:latin typeface="Calibri"/>
              </a:rPr>
              <a:t>▪  </a:t>
            </a:r>
            <a:r>
              <a:rPr sz="1800" b="1">
                <a:solidFill>
                  <a:srgbClr val="1B3A6B"/>
                </a:solidFill>
                <a:latin typeface="Calibri"/>
              </a:rPr>
              <a:t>El riesgo está concentrado.  </a:t>
            </a:r>
            <a:r>
              <a:rPr sz="1800">
                <a:solidFill>
                  <a:srgbClr val="555B66"/>
                </a:solidFill>
                <a:latin typeface="Calibri"/>
              </a:rPr>
              <a:t>Un solo producto acumula tres cuartas partes del dinero comprometido.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303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Consecuencia:  aprobar mal genera pérdida directa; rechazar bien genera negocio perdido.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Y cuando el criterio cambia según el evaluador, se compromete la equidad frente al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Objetivo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B3A6B"/>
                </a:solidFill>
                <a:latin typeface="Calibri"/>
              </a:rPr>
              <a:t>Analizar el proceso de aprobación con técnicas de ciencia de datos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B3A6B"/>
                </a:solidFill>
                <a:latin typeface="Calibri"/>
              </a:rPr>
              <a:t>para identificar patrones que sustenten decisiones gerenciales con evidencia.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71800"/>
            <a:ext cx="2148840" cy="1325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216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solicitudes analizadas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971800"/>
            <a:ext cx="2148840" cy="1325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13639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290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216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registros en la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971800"/>
            <a:ext cx="2148840" cy="1325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313639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7216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971800"/>
            <a:ext cx="2148840" cy="1325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13639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216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meses de datos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2971800"/>
            <a:ext cx="1280160" cy="1325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3136392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72160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herramientas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B66"/>
                </a:solidFill>
                <a:latin typeface="Calibri"/>
              </a:rPr>
              <a:t>Período analizado: 4 de enero al 22 de agosto de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Alcance: análisis descriptivo. No se desarrollaron modelos predictivos.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2 ·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Cómo lo abordamos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20240"/>
            <a:ext cx="2057400" cy="2468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2057400" cy="457200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ETAPA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420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Comprensión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del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Problema, actores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y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E5A9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2057400" cy="2468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920240"/>
            <a:ext cx="2057400" cy="457200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975104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ETAPA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5420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Diseño de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la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Modelo E-R con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5 entidades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E5A94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1920240"/>
            <a:ext cx="2057400" cy="2468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20240"/>
            <a:ext cx="2057400" cy="457200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975104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ETAPA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420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Implementación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290 registros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y consultas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E5A94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1920240"/>
            <a:ext cx="2057400" cy="2468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1920240"/>
            <a:ext cx="2057400" cy="457200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1975104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ETAPA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5420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Dashboard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5 KPI, 4 visuales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y segmentadores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92608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E5A94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1920240"/>
            <a:ext cx="2057400" cy="24688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7776" y="1920240"/>
            <a:ext cx="2057400" cy="457200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7776" y="1975104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ETAPA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25420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Análisis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EDA y visualización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en Google Colab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754880"/>
            <a:ext cx="11064240" cy="1143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6B"/>
                </a:solidFill>
                <a:latin typeface="Calibri"/>
              </a:rPr>
              <a:t>Inteligencia Artificial como apoyo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257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Gemini generó el código base de Pandas y Matplotlib. El equipo verificó las columnas, validó los cálculos e interpretó los resultados para el negocio.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2 ·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 base de datos que construimos</a:t>
            </a:r>
          </a:p>
        </p:txBody>
      </p:sp>
      <p:pic>
        <p:nvPicPr>
          <p:cNvPr id="5" name="Picture 4" descr="09-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80160"/>
            <a:ext cx="69494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4173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B"/>
                </a:solidFill>
                <a:latin typeface="Calibri"/>
              </a:rPr>
              <a:t>5 tablas relacionadas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9659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2E5A94"/>
                </a:solidFill>
                <a:latin typeface="Calibri"/>
              </a:rPr>
              <a:t>▪  </a:t>
            </a:r>
            <a:r>
              <a:rPr sz="1400">
                <a:solidFill>
                  <a:srgbClr val="555B66"/>
                </a:solidFill>
                <a:latin typeface="Calibri"/>
              </a:rPr>
              <a:t>Cliente (50)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2E5A94"/>
                </a:solidFill>
                <a:latin typeface="Calibri"/>
              </a:rPr>
              <a:t>▪  </a:t>
            </a:r>
            <a:r>
              <a:rPr sz="1400">
                <a:solidFill>
                  <a:srgbClr val="555B66"/>
                </a:solidFill>
                <a:latin typeface="Calibri"/>
              </a:rPr>
              <a:t>Solicitud_Credito (60)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2E5A94"/>
                </a:solidFill>
                <a:latin typeface="Calibri"/>
              </a:rPr>
              <a:t>▪  </a:t>
            </a:r>
            <a:r>
              <a:rPr sz="1400">
                <a:solidFill>
                  <a:srgbClr val="555B66"/>
                </a:solidFill>
                <a:latin typeface="Calibri"/>
              </a:rPr>
              <a:t>Historial_Crediticio (50)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2E5A94"/>
                </a:solidFill>
                <a:latin typeface="Calibri"/>
              </a:rPr>
              <a:t>▪  </a:t>
            </a:r>
            <a:r>
              <a:rPr sz="1400">
                <a:solidFill>
                  <a:srgbClr val="555B66"/>
                </a:solidFill>
                <a:latin typeface="Calibri"/>
              </a:rPr>
              <a:t>Evaluacion_Riesgo (70)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2E5A94"/>
                </a:solidFill>
                <a:latin typeface="Calibri"/>
              </a:rPr>
              <a:t>▪  </a:t>
            </a:r>
            <a:r>
              <a:rPr sz="1400">
                <a:solidFill>
                  <a:srgbClr val="555B66"/>
                </a:solidFill>
                <a:latin typeface="Calibri"/>
              </a:rPr>
              <a:t>Decision_Credito (60)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663440"/>
            <a:ext cx="3108960" cy="118872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480060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290 registros con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restricciones de integridad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y llaves foráneas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2 ·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Los datos son confiables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3A6B"/>
                </a:solidFill>
                <a:latin typeface="Calibri"/>
              </a:rPr>
              <a:t>Los cinco indicadores se calcularon por separado en tres herramientas distintas.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418320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8928" y="21031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21031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7" y="21031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487168"/>
            <a:ext cx="9418320" cy="4754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25877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Total de solicitudes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5877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5877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5877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632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Monto total solicitado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0632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93,553,324.86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30632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93.55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30632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93,553,324.86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438144"/>
            <a:ext cx="9418320" cy="4754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353872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Tasa de aprobación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5387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65.00 %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5387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65.00 %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35387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65.00 %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14216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Tiempo promedio de decisión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401421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6.73 días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01421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6.73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7" y="401421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6.73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389120"/>
            <a:ext cx="9418320" cy="4754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1328" y="4489704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Riesgo interno promedio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48970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0.27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48970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0.26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7" y="448970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0.27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937760"/>
            <a:ext cx="9418320" cy="914400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5084064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E8A5A"/>
                </a:solidFill>
                <a:latin typeface="Calibri"/>
              </a:rPr>
              <a:t>Los tres caminos arrojaron los mismos valores. El dato mantuvo su integridad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E8A5A"/>
                </a:solidFill>
                <a:latin typeface="Calibri"/>
              </a:rPr>
              <a:t>al atravesar SQL, Power BI y Python: esto da confianza a todo lo que sigue.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Principales hallazgos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337560"/>
            <a:ext cx="914400" cy="45720"/>
          </a:xfrm>
          <a:prstGeom prst="rect">
            <a:avLst/>
          </a:prstGeom>
          <a:solidFill>
            <a:srgbClr val="4E7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9FC0E8"/>
                </a:solidFill>
                <a:latin typeface="Calibri"/>
              </a:rPr>
              <a:t>Seis descubrimientos sustentados en los datos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3 ·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1. El riesgo se concentra en un solo producto</a:t>
            </a:r>
          </a:p>
        </p:txBody>
      </p:sp>
      <p:pic>
        <p:nvPicPr>
          <p:cNvPr id="5" name="Picture 4" descr="01-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9" y="1325880"/>
            <a:ext cx="5334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0392B"/>
                </a:solidFill>
                <a:latin typeface="Calibri"/>
              </a:rPr>
              <a:t>Índice de Gini = 0.6280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Concentración alta del monto solicitado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2468880" cy="118872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0779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20 %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930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de las solicitudes...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743200"/>
            <a:ext cx="2468880" cy="118872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90779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C0392B"/>
                </a:solidFill>
                <a:latin typeface="Calibri"/>
              </a:rPr>
              <a:t>65.2 %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4930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...concentran del monto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5212080" cy="169164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370832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El préstamo hipotecario: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▪  26.67 % de las solicitudes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▪  75.69 % del monto total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▪  Monto promedio 55× mayor que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    la tarjeta de crédito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3 ·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 Mismo volumen, exposición opuesta</a:t>
            </a:r>
          </a:p>
        </p:txBody>
      </p:sp>
      <p:pic>
        <p:nvPicPr>
          <p:cNvPr id="5" name="Picture 4" descr="04-producto-concent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280160"/>
            <a:ext cx="724204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5544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3A6B"/>
                </a:solidFill>
                <a:latin typeface="Calibri"/>
              </a:rPr>
              <a:t>Dos productos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0116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16 solicitudes cada uno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606040"/>
            <a:ext cx="3383280" cy="13716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7432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Hipotecario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RD$ 4,425,679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promedio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4114800"/>
            <a:ext cx="3383280" cy="13716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519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Tarjeta de crédito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RD$ 80,927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promedio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7498079" cy="685800"/>
          </a:xfrm>
          <a:prstGeom prst="rect">
            <a:avLst/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6928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A mayor monto promedio → mayor riesgo y menor tasa de aprobación.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3 ·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3. El criterio depende de quién evalúa</a:t>
            </a:r>
          </a:p>
        </p:txBody>
      </p:sp>
      <p:pic>
        <p:nvPicPr>
          <p:cNvPr id="5" name="Picture 4" descr="03-anali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09" y="1280160"/>
            <a:ext cx="6924501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46304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0392B"/>
                </a:solidFill>
                <a:latin typeface="Calibri"/>
              </a:rPr>
              <a:t>23.81 puntos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de diferencia entre dos analistas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con riesgo casi idéntico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926080"/>
            <a:ext cx="3931920" cy="11430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06324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M. Fernández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riesgo 0.31  →  aprueba 66.67 %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206240"/>
            <a:ext cx="3931920" cy="11430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434340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A. Guzmán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riesgo 0.30  →  aprueba 42.86 %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4864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Dos clientes con el mismo perfil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pueden recibir respuestas distintas.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3 ·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El tiempo no depende de la dificultad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3A6B"/>
                </a:solidFill>
                <a:latin typeface="Calibri"/>
              </a:rPr>
              <a:t>Correlación del tiempo de decisión con las variables del caso: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200400" cy="13716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0.049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con el monto solicitado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011680"/>
            <a:ext cx="3200400" cy="13716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7627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-0.010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61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con el score de riesgo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11680"/>
            <a:ext cx="3200400" cy="137160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7627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B3A6B"/>
                </a:solidFill>
                <a:latin typeface="Calibri"/>
              </a:rPr>
              <a:t>-0.044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61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con el score de buró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Prácticamente cero. La demora es operativa, no técnica.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B"/>
                </a:solidFill>
                <a:latin typeface="Calibri"/>
              </a:rPr>
              <a:t>5. Y el canal más moderno es el más lento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App móvil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764024"/>
            <a:ext cx="292608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470916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8.11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1091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Call center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065776"/>
            <a:ext cx="2825056" cy="201168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184" y="501091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B66"/>
                </a:solidFill>
                <a:latin typeface="Calibri"/>
              </a:rPr>
              <a:t>7.83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12664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Sucursal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5367528"/>
            <a:ext cx="2774544" cy="201168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4672" y="531266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B66"/>
                </a:solidFill>
                <a:latin typeface="Calibri"/>
              </a:rPr>
              <a:t>7.69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14416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Banca en línea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669280"/>
            <a:ext cx="2027690" cy="201168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7818" y="5614416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B66"/>
                </a:solidFill>
                <a:latin typeface="Calibri"/>
              </a:rPr>
              <a:t>5.62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1616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Agente externo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971032"/>
            <a:ext cx="1969962" cy="201168"/>
          </a:xfrm>
          <a:prstGeom prst="rect">
            <a:avLst/>
          </a:prstGeom>
          <a:solidFill>
            <a:srgbClr val="1E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0090" y="59161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8A5A"/>
                </a:solidFill>
                <a:latin typeface="Calibri"/>
              </a:rPr>
              <a:t>5.46 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4206240"/>
            <a:ext cx="4023360" cy="201168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38912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Los dos canales digitales están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en extremos opuestos.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El problema no está en la captura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sino en el flujo posterior.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Oportunidad: 2.65 días.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3 ·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La buena noticia: el modelo de riesgo funciona</a:t>
            </a:r>
          </a:p>
        </p:txBody>
      </p:sp>
      <p:pic>
        <p:nvPicPr>
          <p:cNvPr id="5" name="Picture 4" descr="02-riesgo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6978"/>
            <a:ext cx="7132320" cy="41954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5544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E8A5A"/>
                </a:solidFill>
                <a:latin typeface="Calibri"/>
              </a:rPr>
              <a:t>Sin excepciones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194560"/>
            <a:ext cx="3749039" cy="2377440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383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Riesgo bajo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→ 100 % aprobado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Riesgo muy alto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→ 100 % rechazado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Riesgo alto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3A6B"/>
                </a:solidFill>
                <a:latin typeface="Calibri"/>
              </a:rPr>
              <a:t>→ ninguna aprobación plena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4754880"/>
            <a:ext cx="3749039" cy="128016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4919472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El banco ya tiene una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herramienta válida.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El problema no es el modelo,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es cómo se aplica.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4 ·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Qué recomendamos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713232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8988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Tarjeta de puntuación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190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Traducir el score de riesgo en una decisión reglada. Ataca los 23.81 puntos de dispersión.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76272"/>
            <a:ext cx="502920" cy="713232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945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Tramos de aprobación por monto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2374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8 solicitudes concentran el 48.1 % del capital: no pueden seguir el mismo flujo que una de RD$27,000.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80944"/>
            <a:ext cx="502920" cy="713232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9923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Rediseñar el flujo 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28415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La demora es operativa, no técnica. Oportunidad de recuperar hasta 2.65 días.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85615"/>
            <a:ext cx="502920" cy="713232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03903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Ampliar la decisión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33087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Hoy resuelve casos de riesgo 0.11 mientras los analistas manejan 0.26 a 0.35.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90288"/>
            <a:ext cx="502920" cy="713232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3659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08575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Revisar la política hipotecaria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3775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75.69 % de la exposición, mayor riesgo (0.41) y todos los valores atípicos.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94959"/>
            <a:ext cx="502920" cy="713232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41264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13247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3A6B"/>
                </a:solidFill>
                <a:latin typeface="Calibri"/>
              </a:rPr>
              <a:t>Institucionalizar el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742431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Convertir el análisis puntual en un sistema de alerta temprana mensual.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4 ·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Plan de acción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611880" cy="777240"/>
          </a:xfrm>
          <a:prstGeom prst="rect">
            <a:avLst/>
          </a:prstGeom>
          <a:solidFill>
            <a:srgbClr val="1E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CORTO PLAZO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0 – 3 meses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3611880" cy="356616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Sesiones de calibración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entre analistas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729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Adoptar el dashboard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como reporte mensual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14215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Documentar criterios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vigentes por producto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611880" cy="777240"/>
          </a:xfrm>
          <a:prstGeom prst="rect">
            <a:avLst/>
          </a:prstGeom>
          <a:solidFill>
            <a:srgbClr val="2E5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MEDIANO PLAZO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013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3 – 9 meses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148840"/>
            <a:ext cx="3611880" cy="356616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Implementar la tarjeta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de puntuación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1729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Definir tramos por monto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014215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Rediseñar el flujo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de la app móvil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85546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Revisar política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hipotecaria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371600"/>
            <a:ext cx="3611880" cy="777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81328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LARGO PLAZO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8013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9 – 18 meses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148840"/>
            <a:ext cx="3611880" cy="356616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Ampliar el umbral de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decisión automática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1729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Diversificar la cartera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(reducir Gini)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014215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▪  Dimensionar capacidad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1B3A6B"/>
                </a:solidFill>
                <a:latin typeface="Calibri"/>
              </a:rPr>
              <a:t>según demanda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97880"/>
            <a:ext cx="11109960" cy="65836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01675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3A6B"/>
                </a:solidFill>
                <a:latin typeface="Calibri"/>
              </a:rPr>
              <a:t>Ninguna medida requiere inversión tecnológica nueva: se apoyan en el modelo de riesgo que el banco ya tiene.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Calibri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Evidencia del trabajo realizado</a:t>
            </a:r>
          </a:p>
        </p:txBody>
      </p:sp>
      <p:pic>
        <p:nvPicPr>
          <p:cNvPr id="5" name="Picture 4" descr="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92" y="1325880"/>
            <a:ext cx="3086695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Dashboard ejecutivo en Power BI</a:t>
            </a:r>
          </a:p>
        </p:txBody>
      </p:sp>
      <p:pic>
        <p:nvPicPr>
          <p:cNvPr id="7" name="Picture 6" descr="08-co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935" y="1325880"/>
            <a:ext cx="4717809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3703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B3A6B"/>
                </a:solidFill>
                <a:latin typeface="Calibri"/>
              </a:rPr>
              <a:t>Notebook ejecutado en Google Colab</a:t>
            </a:r>
          </a:p>
        </p:txBody>
      </p:sp>
      <p:pic>
        <p:nvPicPr>
          <p:cNvPr id="9" name="Picture 8" descr="06-tende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5" y="4114800"/>
            <a:ext cx="3218688" cy="2011680"/>
          </a:xfrm>
          <a:prstGeom prst="rect">
            <a:avLst/>
          </a:prstGeom>
        </p:spPr>
      </p:pic>
      <p:pic>
        <p:nvPicPr>
          <p:cNvPr id="10" name="Picture 9" descr="05-histogra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5" y="4114800"/>
            <a:ext cx="3218688" cy="2011680"/>
          </a:xfrm>
          <a:prstGeom prst="rect">
            <a:avLst/>
          </a:prstGeom>
        </p:spPr>
      </p:pic>
      <p:pic>
        <p:nvPicPr>
          <p:cNvPr id="11" name="Picture 10" descr="01-loren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480" y="4114800"/>
            <a:ext cx="234696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8136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AAAAA"/>
                </a:solidFill>
                <a:latin typeface="Calibri"/>
              </a:rPr>
              <a:t>Grupo 5 · Optimización de la Aprobación de Créditos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9FC0E8"/>
                </a:solidFill>
                <a:latin typeface="Calibri"/>
              </a:rPr>
              <a:t>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9713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El banco ya tenía los datos y un modelo de riesgo que funciona.</a:t>
            </a:r>
          </a:p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Lo que faltaba era mirarlos en conjunto.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160520"/>
            <a:ext cx="914400" cy="45720"/>
          </a:xfrm>
          <a:prstGeom prst="rect">
            <a:avLst/>
          </a:prstGeom>
          <a:solidFill>
            <a:srgbClr val="4E7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Gracias. 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C0E8"/>
                </a:solidFill>
                <a:latin typeface="Calibri"/>
              </a:rPr>
              <a:t>Angie Massiel González Rivera  ·  Bryan Misael Helena  ·  Jhonniel García Samboy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